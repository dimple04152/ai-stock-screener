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panose="020B0604020202020204" charset="0"/>
      <p:regular r:id="rId15"/>
      <p:bold r:id="rId16"/>
      <p:italic r:id="rId17"/>
      <p:boldItalic r:id="rId18"/>
    </p:embeddedFont>
    <p:embeddedFont>
      <p:font typeface="JetBrains Mono ExtraBold" panose="020B0604020202020204" charset="0"/>
      <p:bold r:id="rId19"/>
      <p:boldItalic r:id="rId20"/>
    </p:embeddedFont>
    <p:embeddedFont>
      <p:font typeface="JetBrains Mono SemiBold" panose="020B0604020202020204" charset="0"/>
      <p:regular r:id="rId21"/>
      <p:bold r:id="rId22"/>
      <p:italic r:id="rId23"/>
      <p:bold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  <p:embeddedFont>
      <p:font typeface="Plus Jakarta Sans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CE3216-79C4-400E-B741-0018B20BD435}">
  <a:tblStyle styleId="{46CE3216-79C4-400E-B741-0018B20BD4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43100" y="1865114"/>
            <a:ext cx="8305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9F3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DEVOPS CONTINUOUS ASSESSMENT (CA)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35455" y="2179439"/>
            <a:ext cx="8721090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39F3B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STOCK SCREENER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43100" y="3548955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Intelligent Natural Language Financial Data Tool Governed by a Secure, Self-Healing, and Automated Cloud-Native DevOps Pipeline.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43100" y="4573785"/>
            <a:ext cx="8305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PRESENTER:</a:t>
            </a:r>
            <a:r>
              <a:rPr lang="en-US" sz="1050" b="0" i="0" u="none" strike="noStrike" cap="none">
                <a:solidFill>
                  <a:srgbClr val="F5AF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DIMPLE YADAV  |  </a:t>
            </a: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 NO:</a:t>
            </a:r>
            <a:r>
              <a:rPr lang="en-US" sz="1050" b="0" i="0" u="none" strike="noStrike" cap="none">
                <a:solidFill>
                  <a:srgbClr val="F5AF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12308071  |  </a:t>
            </a: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ROLL NO:</a:t>
            </a:r>
            <a:r>
              <a:rPr lang="en-US" sz="1050" b="0" i="0" u="none" strike="noStrike" cap="none">
                <a:solidFill>
                  <a:srgbClr val="F5AF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66  |  </a:t>
            </a: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SECTION:</a:t>
            </a:r>
            <a:r>
              <a:rPr lang="en-US" sz="1050" b="0" i="0" u="none" strike="noStrike" cap="none">
                <a:solidFill>
                  <a:srgbClr val="F5AF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40M58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SCHOOL OF COMPUTER SCIENCE AND ENGINEERING, LOVELY PROFESSIONAL UNIVERSITY  •  GUIDED BY MS. ARSHIYA PATHANIA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4251"/>
            <a:ext cx="5324475" cy="2422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84251"/>
            <a:ext cx="5324475" cy="242292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2879526"/>
            <a:ext cx="49706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 Architecture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581775" y="2879526"/>
            <a:ext cx="49706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DevOps Stack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3279576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Context &amp; Problem Statement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363765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Seven-Tier Microservices Integration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76300" y="399573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Natural Language parsing to parameterized SQL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279576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Automation via Terraform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363765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Container Architecture via Docker Hub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399573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Kubeadm Self-Healing Orchestration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435381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Zero-Downtime Jenkins Pipelines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332720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36852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40433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2720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6852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40433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440144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Presentation Agenda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81025" y="2216943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Financial Data Complexity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9548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14400" y="2616993"/>
            <a:ext cx="49911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 interfaces: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Traditional screeners require tedious, complex manual filtering configurations.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3306365"/>
            <a:ext cx="49911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Accessibility gap: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Conversational inputs like "undervalued tech stocks" cannot be easily parsed dynamically.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4400" y="3995737"/>
            <a:ext cx="49911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silos: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Disconnects between software builds and infrastructure configurations cause deployment delays.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4685109"/>
            <a:ext cx="49911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overhead: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Provisioning and real-time scaling without code-defined automation leads to costly failures.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65033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3970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290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718446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 Statement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23900" y="581025"/>
            <a:ext cx="5390673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Microservices Architecture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81025" y="1314450"/>
            <a:ext cx="554069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Cloud-Native Architecture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1714500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system comprises 7 highly isolated services: a responsive Streamlit analytical frontend, a FastAPI router, and an isolated LLM Microservice executing natural-language translation loops.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2560141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Persistent databases are backed by PostgreSQL, performance caches are powered by Redis, data workers fetch live assets via yfinance, and Prometheus operators collect system telemetry.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46151"/>
            <a:ext cx="3549699" cy="249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224" y="2546151"/>
            <a:ext cx="3549699" cy="249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546151"/>
            <a:ext cx="3549699" cy="2499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19150" y="3317676"/>
            <a:ext cx="32271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NLP Query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19150" y="3717726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user inputs queries in natural language (e.g.,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"Technology stocks with PE ratio below 30"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559349" y="3317676"/>
            <a:ext cx="32271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Gemini Engine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559349" y="3717726"/>
            <a:ext cx="307344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system intercepts queries and instructs Gemini model to convert input to an explicit Domain Specific Language (DSL).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299549" y="3317676"/>
            <a:ext cx="32271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SQL Compiler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299549" y="3717726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validator parses the DSL structure and compiles parameterized SQL statements, defending against SQL-injection vectors.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83190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9349" y="283190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9549" y="283190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 Translation Pipeline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22351"/>
            <a:ext cx="5324475" cy="2346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22351"/>
            <a:ext cx="5324475" cy="234672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876300" y="2917626"/>
            <a:ext cx="49706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Automating with Terraform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76300" y="3317676"/>
            <a:ext cx="4733925" cy="75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console configurations are eliminated. By defining assets declaratively inside .tf files, complete network, instance states, and security bounds are versioned and audited securely in Git.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76300" y="4182367"/>
            <a:ext cx="47339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9F3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terraform init -&gt; plan -&gt; apply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581775" y="2917626"/>
            <a:ext cx="49706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AWS Provisioned Topology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581775" y="3317676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Isolated VPC subnet: 10.0.1.0/24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581775" y="365670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EC2 instances (m7i-flex.large)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81775" y="399573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Gateway &amp; Route table associations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581775" y="4334767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Stateful security firewalls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36530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70433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0433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38239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with IaC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914400" y="2881610"/>
            <a:ext cx="10696575" cy="26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Consistent Packaging: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All backend routers, LLM modules, frontends, and workers are packaged in separate slim-python base images.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14400" y="3321546"/>
            <a:ext cx="10696575" cy="5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Leveraged Docker Caching: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Dockerfiles are optimized to copy requirements.txt and install libraries prior to importing application source code, drastically lowering CI build intervals.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14400" y="4020442"/>
            <a:ext cx="106965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Hub Registries: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Successfully compiled images are automatically tagged and pushed to the organization registry, allowing easy orchestration pulls.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1494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54883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5378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Containerization Strategy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52712"/>
            <a:ext cx="441186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71550" y="3043237"/>
            <a:ext cx="363081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9F3B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3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71550" y="4329112"/>
            <a:ext cx="36308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NODES KUBEADM CLUSTER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373885" y="2390179"/>
            <a:ext cx="681811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Self-Managed Resilient Cluster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373885" y="2790229"/>
            <a:ext cx="66179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Bootstrapped natively on AWS EC2 nodes (1 Master, 2 Worker Instances) running containerd CRI and Calico CNI overlay networking.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07260" y="3392090"/>
            <a:ext cx="628456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Self-Healing: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Damaged pods are detected by the control-plane and rescheduled within seconds.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07260" y="4081462"/>
            <a:ext cx="628456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DNS Discovery: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Microservices communicate securely via internal ClusterIP bindings.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07260" y="4770834"/>
            <a:ext cx="628456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Secrets: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Keys are injected at execution time rather than being hardcoded.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3885" y="342542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3885" y="41148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3885" y="480417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Kubernetes Orchestration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81025" y="2380654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Declarative Pipeline Orchestration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81025" y="2780704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Jenkins server runs on an isolated EC2 host. Webhook connections directly intercept code changes to initiate automated builds.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9548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914400" y="3382565"/>
            <a:ext cx="49911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Checkout: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Extracts code directly from GitHub main branches.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14400" y="3812976"/>
            <a:ext cx="4991100" cy="5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&amp; Dual Tagging: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Tags built images simultaneously with latest and $BUILD_NUMBER.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4400" y="4511873"/>
            <a:ext cx="4991100" cy="5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stage: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Applies manifests using kubectl and triggers zero-downtime rolling updates.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15903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84631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4521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CI/CD Pipeline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68041"/>
            <a:ext cx="3549699" cy="225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224" y="2668041"/>
            <a:ext cx="3549699" cy="225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668041"/>
            <a:ext cx="3549699" cy="225534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819150" y="3439566"/>
            <a:ext cx="32271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Pull Telemetry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19150" y="3839616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Prometheus systematically scrapes performance counters, HTTP metrics, and API latency distributions across the cluster.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559349" y="3439566"/>
            <a:ext cx="32271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Node Exporters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559349" y="3839616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 exporters capture OS-level indicators (CPU, disk I/O load, memory) from physical EC2 instances.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299549" y="3439566"/>
            <a:ext cx="32271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9F3B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Grafana Analytics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299549" y="3839616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PromQL aggregates metrics into stunning visual panels, allowing engineers to audit workloads continuously.</a:t>
            </a:r>
            <a:endParaRPr/>
          </a:p>
        </p:txBody>
      </p:sp>
      <p:pic>
        <p:nvPicPr>
          <p:cNvPr id="245" name="Google Shape;24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95379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9349" y="2953791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9549" y="2953791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Full-Stack Observability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5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69008"/>
            <a:ext cx="11029950" cy="2815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9191" y="5027116"/>
            <a:ext cx="3693467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/>
          <p:nvPr/>
        </p:nvSpPr>
        <p:spPr>
          <a:xfrm>
            <a:off x="590550" y="2078533"/>
            <a:ext cx="11010900" cy="2796182"/>
          </a:xfrm>
          <a:prstGeom prst="roundRect">
            <a:avLst>
              <a:gd name="adj" fmla="val 0"/>
            </a:avLst>
          </a:prstGeom>
          <a:solidFill>
            <a:srgbClr val="121723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23"/>
          <p:cNvGraphicFramePr/>
          <p:nvPr/>
        </p:nvGraphicFramePr>
        <p:xfrm>
          <a:off x="590550" y="2078533"/>
          <a:ext cx="11010900" cy="2796150"/>
        </p:xfrm>
        <a:graphic>
          <a:graphicData uri="http://schemas.openxmlformats.org/drawingml/2006/table">
            <a:tbl>
              <a:tblPr firstRow="1" bandRow="1">
                <a:noFill/>
                <a:tableStyleId>{46CE3216-79C4-400E-B741-0018B20BD435}</a:tableStyleId>
              </a:tblPr>
              <a:tblGrid>
                <a:gridCol w="239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9F3BB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Workload / Target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9F3BB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Sequential Approach (Legacy)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9F3BB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Optimized Batch / Cache (DevOps)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9F3BB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Efficiency Gain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Portfolio Holdings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~5.0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~1.5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3.3x Faster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 Portfolio Holdings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~10.0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~1.5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6.6x Faster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 Portfolio Holdings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~20.0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~1.5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13.3x Faster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Query Caching Latency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~1,000 to 3,000 ms (API call)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 100 ms (Redis cache read)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95% Latency Drop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9" name="Google Shape;25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1591" y="5179516"/>
            <a:ext cx="338866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590550" y="2637532"/>
            <a:ext cx="2390923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2981473" y="2637532"/>
            <a:ext cx="3082974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6064448" y="2637532"/>
            <a:ext cx="3512939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9577387" y="2637532"/>
            <a:ext cx="2024062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90550" y="3195637"/>
            <a:ext cx="2390923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981473" y="3195637"/>
            <a:ext cx="3082974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064448" y="3195637"/>
            <a:ext cx="3512939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9577387" y="3195637"/>
            <a:ext cx="2024062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90550" y="3753742"/>
            <a:ext cx="2390923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2981473" y="3753742"/>
            <a:ext cx="3082974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064448" y="3753742"/>
            <a:ext cx="3512939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9577387" y="3753742"/>
            <a:ext cx="2024062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90550" y="4311848"/>
            <a:ext cx="2390923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2981473" y="4311848"/>
            <a:ext cx="3082974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6064448" y="4311848"/>
            <a:ext cx="3512939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9577387" y="4311848"/>
            <a:ext cx="2024062" cy="9525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723900" y="581025"/>
            <a:ext cx="1143142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&amp; Results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39F3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840360"/>
            <a:ext cx="26670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0" y="3840360"/>
            <a:ext cx="26670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0" y="3840360"/>
            <a:ext cx="2667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1595437" y="1683990"/>
            <a:ext cx="90011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ANSWERS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2286000" y="2636490"/>
            <a:ext cx="7620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stock screener demonstrates that a high-performance AI system, coupled with declarative IaC, containerized scaling, and robust automated workflows, represents the modern standard for production engineering.</a:t>
            </a:r>
            <a:endParaRPr/>
          </a:p>
        </p:txBody>
      </p:sp>
      <p:pic>
        <p:nvPicPr>
          <p:cNvPr id="288" name="Google Shape;28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3237" y="40403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2009775" y="4364235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Dimple Yadav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2009775" y="4611885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 No: 12308071</a:t>
            </a:r>
            <a:endParaRPr/>
          </a:p>
        </p:txBody>
      </p:sp>
      <p:pic>
        <p:nvPicPr>
          <p:cNvPr id="291" name="Google Shape;29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53125" y="40403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962525" y="4364235"/>
            <a:ext cx="2266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Lovely Professional University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962525" y="481191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School of CSE</a:t>
            </a:r>
            <a:endParaRPr/>
          </a:p>
        </p:txBody>
      </p:sp>
      <p:pic>
        <p:nvPicPr>
          <p:cNvPr id="294" name="Google Shape;294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34450" y="40403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7915275" y="4364235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LPU Student Support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7915275" y="4611885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 Presentation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Microsoft Office PowerPoint</Application>
  <PresentationFormat>Widescreen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Plus Jakarta Sans SemiBold</vt:lpstr>
      <vt:lpstr>JetBrains Mono ExtraBold</vt:lpstr>
      <vt:lpstr>JetBrains Mono</vt:lpstr>
      <vt:lpstr>Arial</vt:lpstr>
      <vt:lpstr>Plus Jakarta Sans</vt:lpstr>
      <vt:lpstr>Calibri</vt:lpstr>
      <vt:lpstr>JetBrains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Dimple Yadav</cp:lastModifiedBy>
  <cp:revision>1</cp:revision>
  <dcterms:modified xsi:type="dcterms:W3CDTF">2026-06-01T04:01:27Z</dcterms:modified>
</cp:coreProperties>
</file>